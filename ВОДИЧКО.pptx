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4C905B-A783-4EB2-BC7C-8569166CB2A0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1CD80C-FD01-4290-8F35-3B83CD1F727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358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Dibujo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 cap="none" spc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1A06-0619-4069-986B-32E23D9C390C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0767-714E-4021-A248-30A393539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237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cap="none" spc="0">
                <a:ln w="18415" cmpd="sng">
                  <a:solidFill>
                    <a:srgbClr val="0066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n>
                  <a:noFill/>
                </a:ln>
                <a:solidFill>
                  <a:srgbClr val="0000CC"/>
                </a:solidFill>
              </a:defRPr>
            </a:lvl1pPr>
            <a:lvl2pPr>
              <a:defRPr>
                <a:ln>
                  <a:noFill/>
                </a:ln>
                <a:solidFill>
                  <a:srgbClr val="0000CC"/>
                </a:solidFill>
              </a:defRPr>
            </a:lvl2pPr>
            <a:lvl3pPr>
              <a:defRPr>
                <a:ln>
                  <a:noFill/>
                </a:ln>
                <a:solidFill>
                  <a:srgbClr val="0000CC"/>
                </a:solidFill>
              </a:defRPr>
            </a:lvl3pPr>
            <a:lvl4pPr>
              <a:defRPr>
                <a:ln>
                  <a:noFill/>
                </a:ln>
                <a:solidFill>
                  <a:srgbClr val="0000CC"/>
                </a:solidFill>
              </a:defRPr>
            </a:lvl4pPr>
            <a:lvl5pPr>
              <a:defRPr>
                <a:ln>
                  <a:noFill/>
                </a:ln>
                <a:solidFill>
                  <a:srgbClr val="0000CC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1A06-0619-4069-986B-32E23D9C390C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0767-714E-4021-A248-30A393539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50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1A06-0619-4069-986B-32E23D9C390C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0767-714E-4021-A248-30A393539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004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1A06-0619-4069-986B-32E23D9C390C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0767-714E-4021-A248-30A393539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394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1A06-0619-4069-986B-32E23D9C390C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0767-714E-4021-A248-30A393539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2937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1A06-0619-4069-986B-32E23D9C390C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0767-714E-4021-A248-30A393539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217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1A06-0619-4069-986B-32E23D9C390C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0767-714E-4021-A248-30A393539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74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1A06-0619-4069-986B-32E23D9C390C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0767-714E-4021-A248-30A393539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0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1A06-0619-4069-986B-32E23D9C390C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0767-714E-4021-A248-30A393539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2521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1A06-0619-4069-986B-32E23D9C390C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0767-714E-4021-A248-30A393539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606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21A06-0619-4069-986B-32E23D9C390C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50767-714E-4021-A248-30A3935399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971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21A06-0619-4069-986B-32E23D9C390C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50767-714E-4021-A248-30A393539978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6 Imagen" descr="Dibujo.bmp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0" y="0"/>
            <a:ext cx="12192000" cy="7010400"/>
          </a:xfrm>
          <a:prstGeom prst="rect">
            <a:avLst/>
          </a:prstGeom>
          <a:gradFill flip="none" rotWithShape="1">
            <a:gsLst>
              <a:gs pos="100000">
                <a:srgbClr val="03D4A8">
                  <a:alpha val="18000"/>
                </a:srgbClr>
              </a:gs>
              <a:gs pos="25000">
                <a:srgbClr val="21D6E0">
                  <a:alpha val="23000"/>
                </a:srgbClr>
              </a:gs>
              <a:gs pos="75000">
                <a:srgbClr val="0087E6">
                  <a:alpha val="25000"/>
                </a:srgbClr>
              </a:gs>
              <a:gs pos="100000">
                <a:srgbClr val="005CBF">
                  <a:alpha val="25999"/>
                </a:srgb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1177687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ketchfab.com/3d-models/water-molecule-27d7dd1eb523467e8570ee778d46877d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emepedia.world/umnyj-chelovek-v-ochkax-skachat-oboi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4.png"/><Relationship Id="rId5" Type="http://schemas.openxmlformats.org/officeDocument/2006/relationships/hyperlink" Target="https://memepedia.world/umnyj-chelovek-v-ochkax-skachat-oboi/" TargetMode="Externa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11B540-C01B-F0A5-3495-5EF8F14522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9600" dirty="0"/>
              <a:t>ВОДИЧКО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855D43E-724E-B9B3-A92F-0E3659B6AB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</a:t>
            </a:r>
            <a:r>
              <a:rPr lang="ru-RU" dirty="0">
                <a:latin typeface="пиано шр Regular" panose="02000503000000000000" pitchFamily="2" charset="0"/>
                <a:cs typeface="пиано шр Regular" panose="02000503000000000000" pitchFamily="2" charset="0"/>
              </a:rPr>
              <a:t>Савва Головченко 7Г</a:t>
            </a:r>
          </a:p>
        </p:txBody>
      </p:sp>
    </p:spTree>
    <p:extLst>
      <p:ext uri="{BB962C8B-B14F-4D97-AF65-F5344CB8AC3E}">
        <p14:creationId xmlns:p14="http://schemas.microsoft.com/office/powerpoint/2010/main" val="717391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5C8E2E-AD1A-1504-F8B9-9BA5D8389832}"/>
              </a:ext>
            </a:extLst>
          </p:cNvPr>
          <p:cNvSpPr txBox="1"/>
          <p:nvPr/>
        </p:nvSpPr>
        <p:spPr>
          <a:xfrm>
            <a:off x="0" y="-513348"/>
            <a:ext cx="31053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600" dirty="0">
                <a:latin typeface="пиано шр Regular" panose="02000503000000000000" pitchFamily="2" charset="0"/>
                <a:cs typeface="пиано шр Regular" panose="02000503000000000000" pitchFamily="2" charset="0"/>
              </a:rPr>
              <a:t>Введение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E50DAF-D891-072F-162A-31A19449FDFF}"/>
              </a:ext>
            </a:extLst>
          </p:cNvPr>
          <p:cNvSpPr txBox="1"/>
          <p:nvPr/>
        </p:nvSpPr>
        <p:spPr>
          <a:xfrm>
            <a:off x="245080" y="1457291"/>
            <a:ext cx="1229526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Вода — уникальное вещество, существующее на Земле в трёх агрегатных состояниях: 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твёрдом, жидком и газообразном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данной презентации рассматриваются 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твёрдое (лёд)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 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жидкое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состояния.</a:t>
            </a:r>
          </a:p>
          <a:p>
            <a:pPr lvl="0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Вода — основа жизни; её свойства определяют многие природные процессы.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11297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70A7AD-2C65-3C6F-E534-AFF507DDD6CB}"/>
              </a:ext>
            </a:extLst>
          </p:cNvPr>
          <p:cNvSpPr txBox="1"/>
          <p:nvPr/>
        </p:nvSpPr>
        <p:spPr>
          <a:xfrm>
            <a:off x="0" y="-465221"/>
            <a:ext cx="777328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600" dirty="0">
                <a:latin typeface="пиано шр Regular" panose="02000503000000000000" pitchFamily="2" charset="0"/>
                <a:cs typeface="пиано шр Regular" panose="02000503000000000000" pitchFamily="2" charset="0"/>
              </a:rPr>
              <a:t>Строение молекулы воды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C83E81-BE44-67A6-1561-BB79A40ED97B}"/>
              </a:ext>
            </a:extLst>
          </p:cNvPr>
          <p:cNvSpPr txBox="1"/>
          <p:nvPr/>
        </p:nvSpPr>
        <p:spPr>
          <a:xfrm>
            <a:off x="89808" y="1812471"/>
            <a:ext cx="119035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3200" dirty="0"/>
              <a:t>Формула: </a:t>
            </a:r>
            <a:r>
              <a:rPr lang="ru-RU" sz="3200" b="1" dirty="0"/>
              <a:t>H₂O</a:t>
            </a:r>
            <a:endParaRPr lang="ru-RU" sz="3200" dirty="0"/>
          </a:p>
          <a:p>
            <a:pPr lvl="0"/>
            <a:r>
              <a:rPr lang="ru-RU" sz="3200" dirty="0"/>
              <a:t>Молекула имеет </a:t>
            </a:r>
            <a:r>
              <a:rPr lang="ru-RU" sz="3200" b="1" dirty="0"/>
              <a:t>угловое строение</a:t>
            </a:r>
            <a:r>
              <a:rPr lang="ru-RU" sz="3200" dirty="0"/>
              <a:t> (угол ≈ 104,5°).</a:t>
            </a:r>
          </a:p>
          <a:p>
            <a:pPr lvl="0"/>
            <a:r>
              <a:rPr lang="ru-RU" sz="3200" dirty="0"/>
              <a:t>Связи </a:t>
            </a:r>
            <a:r>
              <a:rPr lang="ru-RU" sz="3200" b="1" dirty="0"/>
              <a:t>ковалентные полярные</a:t>
            </a:r>
            <a:r>
              <a:rPr lang="ru-RU" sz="3200" dirty="0"/>
              <a:t>.</a:t>
            </a:r>
          </a:p>
          <a:p>
            <a:pPr lvl="0"/>
            <a:r>
              <a:rPr lang="ru-RU" sz="3200" dirty="0"/>
              <a:t>Молекула — </a:t>
            </a:r>
            <a:r>
              <a:rPr lang="ru-RU" sz="3200" b="1" dirty="0"/>
              <a:t>диполь</a:t>
            </a:r>
            <a:r>
              <a:rPr lang="ru-RU" sz="3200" dirty="0"/>
              <a:t> (частичный отрицательный заряд на кислороде, положительный — на водороде).</a:t>
            </a:r>
          </a:p>
          <a:p>
            <a:pPr lvl="0"/>
            <a:r>
              <a:rPr lang="ru-RU" sz="3200" dirty="0"/>
              <a:t>Между молекулами образуются </a:t>
            </a:r>
            <a:r>
              <a:rPr lang="ru-RU" sz="3200" b="1" dirty="0"/>
              <a:t>водородные связи</a:t>
            </a:r>
            <a:r>
              <a:rPr lang="ru-RU" sz="3200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DB722AB-A3E3-F24C-D827-0F44E0444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564337" y="233826"/>
            <a:ext cx="3095511" cy="174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6062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42814E-D6F7-3C0A-AF03-2294D03A0080}"/>
              </a:ext>
            </a:extLst>
          </p:cNvPr>
          <p:cNvSpPr txBox="1"/>
          <p:nvPr/>
        </p:nvSpPr>
        <p:spPr>
          <a:xfrm>
            <a:off x="0" y="-481263"/>
            <a:ext cx="738535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600" dirty="0">
                <a:latin typeface="пиано шр Regular" panose="02000503000000000000" pitchFamily="2" charset="0"/>
                <a:cs typeface="пиано шр Regular" panose="02000503000000000000" pitchFamily="2" charset="0"/>
              </a:rPr>
              <a:t>Жидкое состояние воды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410A3C-9D44-53DC-CAA3-C68EA4E09591}"/>
              </a:ext>
            </a:extLst>
          </p:cNvPr>
          <p:cNvSpPr txBox="1"/>
          <p:nvPr/>
        </p:nvSpPr>
        <p:spPr>
          <a:xfrm>
            <a:off x="106136" y="1894114"/>
            <a:ext cx="1202599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Основные характеристики:</a:t>
            </a:r>
            <a:endParaRPr lang="ru-RU" sz="3200" dirty="0"/>
          </a:p>
          <a:p>
            <a:pPr lvl="0"/>
            <a:r>
              <a:rPr lang="ru-RU" sz="3200" dirty="0"/>
              <a:t>Сохраняет </a:t>
            </a:r>
            <a:r>
              <a:rPr lang="ru-RU" sz="3200" b="1" dirty="0"/>
              <a:t>объём</a:t>
            </a:r>
            <a:r>
              <a:rPr lang="ru-RU" sz="3200" dirty="0"/>
              <a:t>, но не сохраняет форму (принимает форму сосуда).</a:t>
            </a:r>
          </a:p>
          <a:p>
            <a:pPr lvl="0"/>
            <a:r>
              <a:rPr lang="ru-RU" sz="3200" dirty="0"/>
              <a:t>Плотность при 4 °C — </a:t>
            </a:r>
            <a:r>
              <a:rPr lang="ru-RU" sz="3200" b="1" dirty="0"/>
              <a:t>1 г/см³</a:t>
            </a:r>
            <a:r>
              <a:rPr lang="ru-RU" sz="3200" dirty="0"/>
              <a:t> (максимальная).</a:t>
            </a:r>
          </a:p>
          <a:p>
            <a:pPr lvl="0"/>
            <a:r>
              <a:rPr lang="ru-RU" sz="3200" dirty="0"/>
              <a:t>Температура кипения — </a:t>
            </a:r>
            <a:r>
              <a:rPr lang="ru-RU" sz="3200" b="1" dirty="0"/>
              <a:t>100 °C</a:t>
            </a:r>
            <a:r>
              <a:rPr lang="ru-RU" sz="3200" dirty="0"/>
              <a:t> (при </a:t>
            </a:r>
            <a:r>
              <a:rPr lang="ru-RU" sz="3200" dirty="0" err="1"/>
              <a:t>н.у</a:t>
            </a:r>
            <a:r>
              <a:rPr lang="ru-RU" sz="3200" dirty="0"/>
              <a:t>.).</a:t>
            </a:r>
          </a:p>
          <a:p>
            <a:pPr lvl="0"/>
            <a:r>
              <a:rPr lang="ru-RU" sz="3200" dirty="0"/>
              <a:t>Температура замерзания — </a:t>
            </a:r>
            <a:r>
              <a:rPr lang="ru-RU" sz="3200" b="1" dirty="0"/>
              <a:t>0 °C</a:t>
            </a:r>
            <a:r>
              <a:rPr lang="ru-RU" sz="3200" dirty="0"/>
              <a:t>.</a:t>
            </a:r>
          </a:p>
          <a:p>
            <a:pPr lvl="0"/>
            <a:r>
              <a:rPr lang="ru-RU" sz="3200" b="1" dirty="0"/>
              <a:t>Текучесть</a:t>
            </a:r>
            <a:r>
              <a:rPr lang="ru-RU" sz="3200" dirty="0"/>
              <a:t>, </a:t>
            </a:r>
            <a:r>
              <a:rPr lang="ru-RU" sz="3200" b="1" dirty="0"/>
              <a:t>вязкость</a:t>
            </a:r>
            <a:r>
              <a:rPr lang="ru-RU" sz="3200" dirty="0"/>
              <a:t>, </a:t>
            </a:r>
            <a:r>
              <a:rPr lang="ru-RU" sz="3200" b="1" dirty="0"/>
              <a:t>поверхностное натяжение</a:t>
            </a:r>
            <a:r>
              <a:rPr lang="ru-RU" sz="3200" dirty="0"/>
              <a:t>.</a:t>
            </a:r>
          </a:p>
          <a:p>
            <a:pPr lvl="0"/>
            <a:r>
              <a:rPr lang="ru-RU" sz="3200" dirty="0"/>
              <a:t>Хороший </a:t>
            </a:r>
            <a:r>
              <a:rPr lang="ru-RU" sz="3200" b="1" dirty="0"/>
              <a:t>растворитель</a:t>
            </a:r>
            <a:r>
              <a:rPr lang="ru-RU" sz="3200" dirty="0"/>
              <a:t> (универсальный растворитель).</a:t>
            </a:r>
          </a:p>
        </p:txBody>
      </p:sp>
    </p:spTree>
    <p:extLst>
      <p:ext uri="{BB962C8B-B14F-4D97-AF65-F5344CB8AC3E}">
        <p14:creationId xmlns:p14="http://schemas.microsoft.com/office/powerpoint/2010/main" val="26914007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93E443-EBF4-8C01-B723-3215BF7F82D3}"/>
              </a:ext>
            </a:extLst>
          </p:cNvPr>
          <p:cNvSpPr txBox="1"/>
          <p:nvPr/>
        </p:nvSpPr>
        <p:spPr>
          <a:xfrm>
            <a:off x="0" y="-513347"/>
            <a:ext cx="718017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600" dirty="0">
                <a:latin typeface="+mj-lt"/>
              </a:rPr>
              <a:t>Свойства жидкой воды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6ABEA2-2CDC-0BF6-4F9B-87E5580E6E26}"/>
              </a:ext>
            </a:extLst>
          </p:cNvPr>
          <p:cNvSpPr txBox="1"/>
          <p:nvPr/>
        </p:nvSpPr>
        <p:spPr>
          <a:xfrm>
            <a:off x="0" y="920621"/>
            <a:ext cx="1210763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4000" b="1" dirty="0"/>
              <a:t>Теплоёмкость</a:t>
            </a:r>
            <a:r>
              <a:rPr lang="ru-RU" sz="4000" dirty="0"/>
              <a:t> — очень высокая (4,18 кДж/(</a:t>
            </a:r>
            <a:r>
              <a:rPr lang="ru-RU" sz="4000" dirty="0" err="1"/>
              <a:t>кг·К</a:t>
            </a:r>
            <a:r>
              <a:rPr lang="ru-RU" sz="4000" dirty="0"/>
              <a:t>)), поэтому вода медленно нагревается и медленно остывает.</a:t>
            </a:r>
          </a:p>
          <a:p>
            <a:pPr lvl="0"/>
            <a:r>
              <a:rPr lang="ru-RU" sz="4000" b="1" dirty="0"/>
              <a:t>Теплопроводность</a:t>
            </a:r>
            <a:r>
              <a:rPr lang="ru-RU" sz="4000" dirty="0"/>
              <a:t> — низкая.</a:t>
            </a:r>
          </a:p>
          <a:p>
            <a:pPr lvl="0"/>
            <a:r>
              <a:rPr lang="ru-RU" sz="4000" b="1" dirty="0"/>
              <a:t>Поверхностное натяжение</a:t>
            </a:r>
            <a:r>
              <a:rPr lang="ru-RU" sz="4000" dirty="0"/>
              <a:t> — высокое (из-за водородных связей).</a:t>
            </a:r>
          </a:p>
          <a:p>
            <a:pPr lvl="0"/>
            <a:r>
              <a:rPr lang="ru-RU" sz="4000" b="1" dirty="0"/>
              <a:t>Капиллярность</a:t>
            </a:r>
            <a:r>
              <a:rPr lang="ru-RU" sz="4000" dirty="0"/>
              <a:t> — подъём по узким трубкам.</a:t>
            </a:r>
          </a:p>
          <a:p>
            <a:pPr lvl="0"/>
            <a:r>
              <a:rPr lang="ru-RU" sz="4000" b="1" dirty="0"/>
              <a:t>Прозрачность</a:t>
            </a:r>
            <a:r>
              <a:rPr lang="ru-RU" sz="4000" dirty="0"/>
              <a:t>, </a:t>
            </a:r>
            <a:r>
              <a:rPr lang="ru-RU" sz="4000" b="1" dirty="0"/>
              <a:t>бесцветность</a:t>
            </a:r>
            <a:r>
              <a:rPr lang="ru-RU" sz="4000" dirty="0"/>
              <a:t>, </a:t>
            </a:r>
            <a:r>
              <a:rPr lang="ru-RU" sz="4000" b="1" dirty="0"/>
              <a:t>без запаха</a:t>
            </a:r>
            <a:r>
              <a:rPr lang="ru-RU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1810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CEF485-0D57-ADA3-F76F-BEE4635E6B07}"/>
              </a:ext>
            </a:extLst>
          </p:cNvPr>
          <p:cNvSpPr txBox="1"/>
          <p:nvPr/>
        </p:nvSpPr>
        <p:spPr>
          <a:xfrm>
            <a:off x="0" y="-383722"/>
            <a:ext cx="951574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600" dirty="0">
                <a:latin typeface="+mj-lt"/>
              </a:rPr>
              <a:t>Твёрдое состояние воды </a:t>
            </a:r>
            <a:r>
              <a:rPr lang="ru-RU" sz="9600" dirty="0" err="1">
                <a:latin typeface="+mj-lt"/>
              </a:rPr>
              <a:t>СлёдЭ</a:t>
            </a:r>
            <a:endParaRPr lang="ru-RU" sz="96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A5AED-65CC-5956-0C80-1CD378E01ABE}"/>
              </a:ext>
            </a:extLst>
          </p:cNvPr>
          <p:cNvSpPr txBox="1"/>
          <p:nvPr/>
        </p:nvSpPr>
        <p:spPr>
          <a:xfrm>
            <a:off x="0" y="1445079"/>
            <a:ext cx="1114561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dirty="0"/>
              <a:t>Основные характеристики:</a:t>
            </a:r>
            <a:endParaRPr lang="ru-RU" sz="3600" dirty="0"/>
          </a:p>
          <a:p>
            <a:pPr lvl="0"/>
            <a:r>
              <a:rPr lang="ru-RU" sz="3600" dirty="0"/>
              <a:t>Сохраняет </a:t>
            </a:r>
            <a:r>
              <a:rPr lang="ru-RU" sz="3600" b="1" dirty="0"/>
              <a:t>форму</a:t>
            </a:r>
            <a:r>
              <a:rPr lang="ru-RU" sz="3600" dirty="0"/>
              <a:t> и </a:t>
            </a:r>
            <a:r>
              <a:rPr lang="ru-RU" sz="3600" b="1" dirty="0"/>
              <a:t>объём</a:t>
            </a:r>
            <a:r>
              <a:rPr lang="ru-RU" sz="3600" dirty="0"/>
              <a:t>.</a:t>
            </a:r>
          </a:p>
          <a:p>
            <a:pPr lvl="0"/>
            <a:r>
              <a:rPr lang="ru-RU" sz="3600" dirty="0"/>
              <a:t>Кристаллическая решётка — </a:t>
            </a:r>
            <a:r>
              <a:rPr lang="ru-RU" sz="3600" b="1" dirty="0"/>
              <a:t>гексагональная</a:t>
            </a:r>
            <a:r>
              <a:rPr lang="ru-RU" sz="3600" dirty="0"/>
              <a:t>.</a:t>
            </a:r>
          </a:p>
          <a:p>
            <a:pPr lvl="0"/>
            <a:r>
              <a:rPr lang="ru-RU" sz="3600" dirty="0"/>
              <a:t>Плотность льда — </a:t>
            </a:r>
            <a:r>
              <a:rPr lang="ru-RU" sz="3600" b="1" dirty="0"/>
              <a:t>0,92 г/см³</a:t>
            </a:r>
            <a:r>
              <a:rPr lang="ru-RU" sz="3600" dirty="0"/>
              <a:t> (меньше плотности воды).</a:t>
            </a:r>
          </a:p>
          <a:p>
            <a:pPr lvl="0"/>
            <a:r>
              <a:rPr lang="ru-RU" sz="3600" dirty="0"/>
              <a:t>Температура плавления — </a:t>
            </a:r>
            <a:r>
              <a:rPr lang="ru-RU" sz="3600" b="1" dirty="0"/>
              <a:t>0 °C</a:t>
            </a:r>
            <a:r>
              <a:rPr lang="ru-RU" sz="3600" dirty="0"/>
              <a:t>.</a:t>
            </a:r>
          </a:p>
          <a:p>
            <a:pPr lvl="0"/>
            <a:r>
              <a:rPr lang="ru-RU" sz="3600" dirty="0"/>
              <a:t>Лёд </a:t>
            </a:r>
            <a:r>
              <a:rPr lang="ru-RU" sz="3600" b="1" dirty="0"/>
              <a:t>плавает</a:t>
            </a:r>
            <a:r>
              <a:rPr lang="ru-RU" sz="3600" dirty="0"/>
              <a:t> на поверхности воды.</a:t>
            </a:r>
          </a:p>
        </p:txBody>
      </p:sp>
    </p:spTree>
    <p:extLst>
      <p:ext uri="{BB962C8B-B14F-4D97-AF65-F5344CB8AC3E}">
        <p14:creationId xmlns:p14="http://schemas.microsoft.com/office/powerpoint/2010/main" val="202938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9AB264-6C38-9287-66E7-46FB1FCC2A00}"/>
              </a:ext>
            </a:extLst>
          </p:cNvPr>
          <p:cNvSpPr txBox="1"/>
          <p:nvPr/>
        </p:nvSpPr>
        <p:spPr>
          <a:xfrm>
            <a:off x="0" y="-489286"/>
            <a:ext cx="63081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600" dirty="0">
                <a:latin typeface="+mj-lt"/>
              </a:rPr>
              <a:t>Сравнение свойств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F2F866C0-5126-1972-A5BB-02583588BA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53395"/>
              </p:ext>
            </p:extLst>
          </p:nvPr>
        </p:nvGraphicFramePr>
        <p:xfrm>
          <a:off x="449943" y="907444"/>
          <a:ext cx="11292114" cy="5564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038">
                  <a:extLst>
                    <a:ext uri="{9D8B030D-6E8A-4147-A177-3AD203B41FA5}">
                      <a16:colId xmlns:a16="http://schemas.microsoft.com/office/drawing/2014/main" val="2406664779"/>
                    </a:ext>
                  </a:extLst>
                </a:gridCol>
                <a:gridCol w="3764038">
                  <a:extLst>
                    <a:ext uri="{9D8B030D-6E8A-4147-A177-3AD203B41FA5}">
                      <a16:colId xmlns:a16="http://schemas.microsoft.com/office/drawing/2014/main" val="3728424364"/>
                    </a:ext>
                  </a:extLst>
                </a:gridCol>
                <a:gridCol w="3764038">
                  <a:extLst>
                    <a:ext uri="{9D8B030D-6E8A-4147-A177-3AD203B41FA5}">
                      <a16:colId xmlns:a16="http://schemas.microsoft.com/office/drawing/2014/main" val="1894855362"/>
                    </a:ext>
                  </a:extLst>
                </a:gridCol>
              </a:tblGrid>
              <a:tr h="694834"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+mj-lt"/>
                        </a:rPr>
                        <a:t>Свойство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+mj-lt"/>
                        </a:rPr>
                        <a:t>Жидкая вода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dirty="0">
                          <a:latin typeface="+mj-lt"/>
                        </a:rPr>
                        <a:t>Лёд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072212"/>
                  </a:ext>
                </a:extLst>
              </a:tr>
              <a:tr h="69483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Форма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Не сохраняется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Сохраняется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461331"/>
                  </a:ext>
                </a:extLst>
              </a:tr>
              <a:tr h="69483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Объём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Сохраняется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Сохраняется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958032"/>
                  </a:ext>
                </a:extLst>
              </a:tr>
              <a:tr h="69483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Плотность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ru-RU" dirty="0"/>
                        <a:t>1 г</a:t>
                      </a:r>
                      <a:r>
                        <a:rPr lang="en-US" dirty="0"/>
                        <a:t>/</a:t>
                      </a:r>
                      <a:r>
                        <a:rPr lang="ru-RU" dirty="0"/>
                        <a:t>см³ (при 4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°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C)</a:t>
                      </a:r>
                      <a:endParaRPr lang="ru-RU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dirty="0"/>
                        <a:t>0,92 </a:t>
                      </a:r>
                      <a:r>
                        <a:rPr lang="ru-RU" dirty="0"/>
                        <a:t>г/см³</a:t>
                      </a:r>
                    </a:p>
                  </a:txBody>
                  <a:tcPr marL="152400" marT="95250" marB="9525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852611"/>
                  </a:ext>
                </a:extLst>
              </a:tr>
              <a:tr h="69483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Теплоёмкость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Высокая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Ниже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560077"/>
                  </a:ext>
                </a:extLst>
              </a:tr>
              <a:tr h="69483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Теплопроводность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Низкая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Ниже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539145"/>
                  </a:ext>
                </a:extLst>
              </a:tr>
              <a:tr h="69483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Сжимаемость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Очень малая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Очень малая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918568"/>
                  </a:ext>
                </a:extLst>
              </a:tr>
              <a:tr h="694834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Прозрачность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Прозрачная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Прозрачный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028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9037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251189-ABFF-AFD0-F0B7-E3625294889E}"/>
              </a:ext>
            </a:extLst>
          </p:cNvPr>
          <p:cNvSpPr txBox="1"/>
          <p:nvPr/>
        </p:nvSpPr>
        <p:spPr>
          <a:xfrm>
            <a:off x="0" y="-521369"/>
            <a:ext cx="507542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600" dirty="0">
                <a:latin typeface="+mj-lt"/>
              </a:rPr>
              <a:t>Аномалии воды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C4A28C-B3B3-B6D2-831B-6C4C23823880}"/>
              </a:ext>
            </a:extLst>
          </p:cNvPr>
          <p:cNvSpPr txBox="1"/>
          <p:nvPr/>
        </p:nvSpPr>
        <p:spPr>
          <a:xfrm>
            <a:off x="1" y="2090057"/>
            <a:ext cx="120668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4000" b="1" dirty="0"/>
              <a:t>Аномалия плотности:</a:t>
            </a:r>
            <a:r>
              <a:rPr lang="ru-RU" sz="4000" dirty="0"/>
              <a:t> максимальная плотность при 4 °C.</a:t>
            </a:r>
          </a:p>
          <a:p>
            <a:pPr lvl="0"/>
            <a:r>
              <a:rPr lang="ru-RU" sz="4000" b="1" dirty="0"/>
              <a:t>Аномалия теплоёмкости:</a:t>
            </a:r>
            <a:r>
              <a:rPr lang="ru-RU" sz="4000" dirty="0"/>
              <a:t> высокая теплоёмкость.</a:t>
            </a:r>
          </a:p>
          <a:p>
            <a:pPr lvl="0"/>
            <a:r>
              <a:rPr lang="ru-RU" sz="4000" b="1" dirty="0"/>
              <a:t>Аномалия температуры замерзания:</a:t>
            </a:r>
            <a:r>
              <a:rPr lang="ru-RU" sz="4000" dirty="0"/>
              <a:t> при замерзании вода расширяется.</a:t>
            </a:r>
          </a:p>
          <a:p>
            <a:pPr lvl="0"/>
            <a:r>
              <a:rPr lang="ru-RU" sz="4000" dirty="0"/>
              <a:t>Эти аномалии связаны с </a:t>
            </a:r>
            <a:r>
              <a:rPr lang="ru-RU" sz="4000" b="1" dirty="0"/>
              <a:t>водородными связями</a:t>
            </a:r>
            <a:r>
              <a:rPr lang="ru-RU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0684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9D3CFC-29CC-952C-940E-C1B4B8134CD6}"/>
              </a:ext>
            </a:extLst>
          </p:cNvPr>
          <p:cNvSpPr txBox="1"/>
          <p:nvPr/>
        </p:nvSpPr>
        <p:spPr>
          <a:xfrm>
            <a:off x="0" y="-457201"/>
            <a:ext cx="109376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600" b="1" dirty="0">
                <a:latin typeface="+mj-lt"/>
              </a:rPr>
              <a:t>Значение свойств воды в природе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F9D38-9F82-A5E9-3F75-E47D1D26C89C}"/>
              </a:ext>
            </a:extLst>
          </p:cNvPr>
          <p:cNvSpPr txBox="1"/>
          <p:nvPr/>
        </p:nvSpPr>
        <p:spPr>
          <a:xfrm>
            <a:off x="1" y="2028616"/>
            <a:ext cx="12192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4400" dirty="0"/>
              <a:t>Лёд на поверхности водоёмов </a:t>
            </a:r>
            <a:r>
              <a:rPr lang="ru-RU" sz="4400" b="1" dirty="0"/>
              <a:t>защищает</a:t>
            </a:r>
            <a:r>
              <a:rPr lang="ru-RU" sz="4400" dirty="0"/>
              <a:t> обитателей от промерзания.</a:t>
            </a:r>
          </a:p>
          <a:p>
            <a:pPr lvl="0"/>
            <a:r>
              <a:rPr lang="ru-RU" sz="4400" dirty="0"/>
              <a:t>Высокая теплоёмкость воды </a:t>
            </a:r>
            <a:r>
              <a:rPr lang="ru-RU" sz="4400" b="1" dirty="0"/>
              <a:t>регулирует климат</a:t>
            </a:r>
            <a:r>
              <a:rPr lang="ru-RU" sz="4400" dirty="0"/>
              <a:t>.</a:t>
            </a:r>
          </a:p>
          <a:p>
            <a:pPr lvl="0"/>
            <a:r>
              <a:rPr lang="ru-RU" sz="4400" dirty="0"/>
              <a:t>Вода — </a:t>
            </a:r>
            <a:r>
              <a:rPr lang="ru-RU" sz="4400" b="1" dirty="0"/>
              <a:t>среда обитания</a:t>
            </a:r>
            <a:r>
              <a:rPr lang="ru-RU" sz="4400" dirty="0"/>
              <a:t> для многих организмов.</a:t>
            </a:r>
          </a:p>
          <a:p>
            <a:pPr lvl="0"/>
            <a:r>
              <a:rPr lang="ru-RU" sz="4400" b="1" dirty="0"/>
              <a:t>Круговорот воды</a:t>
            </a:r>
            <a:r>
              <a:rPr lang="ru-RU" sz="4400" dirty="0"/>
              <a:t> в природе.</a:t>
            </a:r>
          </a:p>
        </p:txBody>
      </p:sp>
    </p:spTree>
    <p:extLst>
      <p:ext uri="{BB962C8B-B14F-4D97-AF65-F5344CB8AC3E}">
        <p14:creationId xmlns:p14="http://schemas.microsoft.com/office/powerpoint/2010/main" val="1871458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B1CB38C-FA73-1725-63BE-F3E1D2D07F8D}"/>
              </a:ext>
            </a:extLst>
          </p:cNvPr>
          <p:cNvSpPr txBox="1"/>
          <p:nvPr/>
        </p:nvSpPr>
        <p:spPr>
          <a:xfrm>
            <a:off x="0" y="-537411"/>
            <a:ext cx="242566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600" b="1" dirty="0">
                <a:latin typeface="+mj-lt"/>
              </a:rPr>
              <a:t>Выводы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6A5C578-1088-2AE4-1880-5E730E8629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355161" y="0"/>
            <a:ext cx="836839" cy="5575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D17D9E-E789-5D5D-04A7-712C09817148}"/>
              </a:ext>
            </a:extLst>
          </p:cNvPr>
          <p:cNvSpPr txBox="1"/>
          <p:nvPr/>
        </p:nvSpPr>
        <p:spPr>
          <a:xfrm>
            <a:off x="0" y="1032249"/>
            <a:ext cx="1212668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4000" dirty="0"/>
              <a:t>Вода в жидком и твёрдом состоянии обладает </a:t>
            </a:r>
            <a:r>
              <a:rPr lang="ru-RU" sz="4000" b="1" dirty="0"/>
              <a:t>уникальными свойствами</a:t>
            </a:r>
            <a:r>
              <a:rPr lang="ru-RU" sz="4000" dirty="0"/>
              <a:t>.</a:t>
            </a:r>
          </a:p>
          <a:p>
            <a:pPr lvl="0"/>
            <a:r>
              <a:rPr lang="ru-RU" sz="4000" dirty="0"/>
              <a:t>Эти свойства обусловлены </a:t>
            </a:r>
            <a:r>
              <a:rPr lang="ru-RU" sz="4000" b="1" dirty="0"/>
              <a:t>строением молекулы</a:t>
            </a:r>
            <a:r>
              <a:rPr lang="ru-RU" sz="4000" dirty="0"/>
              <a:t> и </a:t>
            </a:r>
            <a:r>
              <a:rPr lang="ru-RU" sz="4000" b="1" dirty="0"/>
              <a:t>водородными связями</a:t>
            </a:r>
            <a:r>
              <a:rPr lang="ru-RU" sz="4000" dirty="0"/>
              <a:t>.</a:t>
            </a:r>
          </a:p>
          <a:p>
            <a:pPr lvl="0"/>
            <a:r>
              <a:rPr lang="ru-RU" sz="4000" dirty="0"/>
              <a:t>Аномалии воды играют </a:t>
            </a:r>
            <a:r>
              <a:rPr lang="ru-RU" sz="4000" b="1" dirty="0"/>
              <a:t>ключевую роль</a:t>
            </a:r>
            <a:r>
              <a:rPr lang="ru-RU" sz="4000" dirty="0"/>
              <a:t> в природе и жизни.</a:t>
            </a:r>
          </a:p>
          <a:p>
            <a:pPr lvl="0"/>
            <a:r>
              <a:rPr lang="ru-RU" sz="4000" dirty="0"/>
              <a:t>Вода — </a:t>
            </a:r>
            <a:r>
              <a:rPr lang="ru-RU" sz="4000" b="1" dirty="0"/>
              <a:t>уникальное вещество</a:t>
            </a:r>
            <a:r>
              <a:rPr lang="ru-RU" sz="4000" dirty="0"/>
              <a:t>, необходимое для жизни на Земле.</a:t>
            </a:r>
          </a:p>
        </p:txBody>
      </p:sp>
    </p:spTree>
    <p:extLst>
      <p:ext uri="{BB962C8B-B14F-4D97-AF65-F5344CB8AC3E}">
        <p14:creationId xmlns:p14="http://schemas.microsoft.com/office/powerpoint/2010/main" val="297637982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AC65B8-25C2-B07A-F795-CDDF9EDA9B58}"/>
              </a:ext>
            </a:extLst>
          </p:cNvPr>
          <p:cNvSpPr txBox="1"/>
          <p:nvPr/>
        </p:nvSpPr>
        <p:spPr>
          <a:xfrm>
            <a:off x="2536371" y="2644170"/>
            <a:ext cx="71192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600" dirty="0">
                <a:latin typeface="+mj-lt"/>
              </a:rPr>
              <a:t>Спасибо за внимание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08C6A8-17D6-B86B-C8EC-47E10F5146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591074" y="484846"/>
            <a:ext cx="3009850" cy="2005262"/>
          </a:xfrm>
          <a:prstGeom prst="rect">
            <a:avLst/>
          </a:prstGeom>
        </p:spPr>
      </p:pic>
      <p:sp>
        <p:nvSpPr>
          <p:cNvPr id="8" name="Улыбающееся лицо 7">
            <a:extLst>
              <a:ext uri="{FF2B5EF4-FFF2-40B4-BE49-F238E27FC236}">
                <a16:creationId xmlns:a16="http://schemas.microsoft.com/office/drawing/2014/main" id="{74023714-A943-8279-398B-4D526F2A68E2}"/>
              </a:ext>
            </a:extLst>
          </p:cNvPr>
          <p:cNvSpPr/>
          <p:nvPr/>
        </p:nvSpPr>
        <p:spPr>
          <a:xfrm>
            <a:off x="312820" y="2644170"/>
            <a:ext cx="11566358" cy="4195010"/>
          </a:xfrm>
          <a:prstGeom prst="smileyFac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Geometry_Dash_-_FIRE_IN_THE_HOLE_77487407">
            <a:hlinkClick r:id="" action="ppaction://media"/>
            <a:extLst>
              <a:ext uri="{FF2B5EF4-FFF2-40B4-BE49-F238E27FC236}">
                <a16:creationId xmlns:a16="http://schemas.microsoft.com/office/drawing/2014/main" id="{DD9DA3C1-EA36-D1C4-C137-9706C436CA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732064" y="157728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06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" dur="817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  <p:bldLst>
      <p:bldP spid="8" grpId="0" animBg="1"/>
    </p:bldLst>
  </p:timing>
</p:sld>
</file>

<file path=ppt/theme/theme1.xml><?xml version="1.0" encoding="utf-8"?>
<a:theme xmlns:a="http://schemas.openxmlformats.org/drawingml/2006/main" name="La ment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пиано шр Regular"/>
        <a:ea typeface=""/>
        <a:cs typeface=""/>
      </a:majorFont>
      <a:minorFont>
        <a:latin typeface="Calibr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TM02474572[[fn=Медицинский шаблон оформления]]</Template>
  <TotalTime>86</TotalTime>
  <Words>399</Words>
  <Application>Microsoft Office PowerPoint</Application>
  <PresentationFormat>Широкоэкранный</PresentationFormat>
  <Paragraphs>74</Paragraphs>
  <Slides>11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пиано шр Regular</vt:lpstr>
      <vt:lpstr>La mente</vt:lpstr>
      <vt:lpstr>ВОДИЧКО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golovcenkoroza@rambler.ru</dc:creator>
  <cp:lastModifiedBy>golovcenkoroza@rambler.ru</cp:lastModifiedBy>
  <cp:revision>2</cp:revision>
  <dcterms:created xsi:type="dcterms:W3CDTF">2026-10-13T15:08:03Z</dcterms:created>
  <dcterms:modified xsi:type="dcterms:W3CDTF">2026-10-13T16:45:41Z</dcterms:modified>
</cp:coreProperties>
</file>